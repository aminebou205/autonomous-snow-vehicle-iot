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dk1"/>
                </a:solidFill>
                <a:uFillTx/>
                <a:latin typeface="Calibri"/>
              </a:rPr>
              <a:t>Cliquez pour déplacer la diapo</a:t>
            </a:r>
            <a:endParaRPr b="0" lang="fr-FR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trike="noStrike" u="none">
                <a:solidFill>
                  <a:srgbClr val="000000"/>
                </a:solidFill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1DF9069-4875-4B23-AE3F-6C8EF35EEC97}" type="slidenum"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Background image: Unsplash (image URL from search results). https://images.unsplash.com/photo-1483921020237-2ff51e8e4b22 (via turn1image0)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D78C5A-7F0C-4283-A965-930515E392F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50FC04-7BA2-4B28-951C-D5B85D7190B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1A5B9C-37A9-470D-B74E-6F50E3F0362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96090A-DC08-4332-B705-45400BC5583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4AD62A-6F9E-4BF3-838A-053B3575A2B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65E4C-917F-4A7C-9707-FBC63906555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EF697-7E08-46C9-A2B7-40462705466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3C83B3-319A-49D4-8ECB-F7DD3302C4C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3F7C1-F3A2-478D-9A21-3AB772DAF16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659556-1DD6-4E80-8E1B-0E7DA9C1DB9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AWS EC2: Connect using SSH. https://docs.aws.amazon.com/AWSEC2/latest/UserGuide/connect-linux-inst-ssh.html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AWS VPC: Configure security group inbound rules. https://docs.aws.amazon.com/vpc/latest/userguide/working-with-security-group-rules.html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AWS EC2 Free Tier usage guidance. https://docs.aws.amazon.com/AWSEC2/latest/UserGuide/ec2-free-tier-usage.html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Streamlit remote deployment troubleshooting / configuration notes. https://docs.streamlit.io/knowledge-base/deploy/remote-start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0E854D-9F7B-408E-A8BA-480F520F013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621039-B443-4390-BE7E-C352A1C32EC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uFillTx/>
                <a:latin typeface="Calibri"/>
              </a:rPr>
              <a:t>Cliquez pour éditer le format du texte-titre</a:t>
            </a:r>
            <a:endParaRPr b="0" lang="fr-FR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chemeClr val="dk1"/>
                </a:solidFill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chemeClr val="dk1"/>
                </a:solidFill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snow_bg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548640" y="1874520"/>
            <a:ext cx="1109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Snow-Terrain Mobility</a:t>
            </a:r>
            <a:endParaRPr b="0" lang="fr-FR" sz="4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Performance Analysis</a:t>
            </a:r>
            <a:endParaRPr b="0" lang="fr-FR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48640" y="338328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Traction stability &amp; directional accuracy in low-friction terrain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548640" y="5394960"/>
            <a:ext cx="6034680" cy="914040"/>
          </a:xfrm>
          <a:prstGeom prst="roundRect">
            <a:avLst>
              <a:gd name="adj" fmla="val 1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68680" y="553212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Sensors: IMU • Wheel encoders • Temperature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Sampling: 20 Hz • Format: CSV • Repo: GitHub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583320" y="6300000"/>
            <a:ext cx="399204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fr-FR" sz="18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Made by</a:t>
            </a:r>
            <a:r>
              <a:rPr b="0" lang="en-US" sz="14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:</a:t>
            </a:r>
            <a:r>
              <a:rPr b="0" lang="fr-FR" sz="18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Mohamed Amine boubker </a:t>
            </a:r>
            <a:r>
              <a:rPr b="0" lang="en-US" sz="18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&amp;</a:t>
            </a:r>
            <a:r>
              <a:rPr b="0" lang="fr-FR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fr-FR" sz="1800" strike="noStrike" u="none">
                <a:solidFill>
                  <a:srgbClr val="000000"/>
                </a:solidFill>
                <a:uFillTx/>
                <a:latin typeface="Arial"/>
              </a:rPr>
              <a:t>               </a:t>
            </a:r>
            <a:r>
              <a:rPr b="0" lang="fr-FR" sz="1800" strike="noStrike" u="none">
                <a:solidFill>
                  <a:srgbClr val="000000"/>
                </a:solidFill>
                <a:uFillTx/>
                <a:latin typeface="Arial"/>
              </a:rPr>
              <a:t>Mohamed reda berroho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Motivation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48640" y="86868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Why snow is hard for autonomous vehicles</a:t>
            </a:r>
            <a:endParaRPr b="0" lang="fr-FR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436680" y="1620000"/>
            <a:ext cx="6583320" cy="448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868680" y="1645920"/>
            <a:ext cx="59432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Low friction → wheel spin and unstable traction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Uneven/soft surface → speed estimation errors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Cold temperatures → battery &amp; motor performance drop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Loss of heading accuracy → path deviation and safety risk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7498080" y="1417320"/>
            <a:ext cx="4144680" cy="4480200"/>
          </a:xfrm>
          <a:prstGeom prst="roundRect">
            <a:avLst>
              <a:gd name="adj" fmla="val 16667"/>
            </a:avLst>
          </a:prstGeom>
          <a:solidFill>
            <a:srgbClr val="eef6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7818120" y="16459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Key risks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7818120" y="2148840"/>
            <a:ext cx="384012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8138160" y="2377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Traction loss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8138160" y="274320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Slip ↑</a:t>
            </a:r>
            <a:endParaRPr b="0" lang="fr-FR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7818120" y="3240000"/>
            <a:ext cx="3200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Wheel spin / control issues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7818120" y="3703320"/>
            <a:ext cx="384012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8138160" y="39319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Direction drift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8138160" y="429768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Yaw drift ↑</a:t>
            </a:r>
            <a:endParaRPr b="0" lang="fr-FR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8138160" y="4860000"/>
            <a:ext cx="3200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Navigation error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Project Objective &amp; Scope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548640" y="822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Goal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548640" y="1234440"/>
            <a:ext cx="5943240" cy="1188360"/>
          </a:xfrm>
          <a:prstGeom prst="roundRect">
            <a:avLst>
              <a:gd name="adj" fmla="val 16667"/>
            </a:avLst>
          </a:prstGeom>
          <a:solidFill>
            <a:srgbClr val="f0fd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868680" y="1417320"/>
            <a:ext cx="5577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Use IMU + wheel encoder data to quantify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(1) traction stability and (2) directional accuracy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in snow-like low-friction conditions.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548640" y="2697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In scope</a:t>
            </a:r>
            <a:endParaRPr b="0" lang="fr-F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548640" y="3063240"/>
            <a:ext cx="594324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868680" y="3291840"/>
            <a:ext cx="53031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Time-series sensor analysis (20 Hz)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KPI computation: slip ratio, heading drift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Visualization &amp; reporting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6720840" y="822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Out of scope (for now)</a:t>
            </a:r>
            <a:endParaRPr b="0" lang="fr-F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6720840" y="1188720"/>
            <a:ext cx="4937400" cy="402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7040880" y="1417320"/>
            <a:ext cx="42973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Real-time embedded control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Physical field testing &amp; long-duration trials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Hardware redesign / mechanical wear studies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System &amp; Sensors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548640" y="8229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Data sources used for mobility monitoring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4663440" y="1874520"/>
            <a:ext cx="2834280" cy="182844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  <a:effectLst>
            <a:outerShdw algn="bl" blurRad="50760" dir="27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4663440" y="21488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Vehicle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4663440" y="26974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Low-friction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(snow-like) run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548640" y="1508760"/>
            <a:ext cx="33829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548640" y="1508760"/>
            <a:ext cx="109440" cy="1051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777240" y="16185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Wheel encoders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777240" y="192024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Wheel speed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→ </a:t>
            </a: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slip ratio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548640" y="2788920"/>
            <a:ext cx="33829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548640" y="2788920"/>
            <a:ext cx="109440" cy="1051200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777240" y="28987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IMU (gyro + accel)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777240" y="32004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Yaw rate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→ </a:t>
            </a: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heading drift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548640" y="4069080"/>
            <a:ext cx="33829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548640" y="4069080"/>
            <a:ext cx="109440" cy="1051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777240" y="41788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Temperature sensors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777240" y="448056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Cold effects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→ </a:t>
            </a: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constraints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8229600" y="2148840"/>
            <a:ext cx="33829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8229600" y="2148840"/>
            <a:ext cx="109440" cy="1051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8458200" y="22586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Vehicle speed (reference)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8458200" y="256032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Linear speed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for slip computation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Shape 25"/>
          <p:cNvSpPr/>
          <p:nvPr/>
        </p:nvSpPr>
        <p:spPr>
          <a:xfrm>
            <a:off x="3931920" y="2011680"/>
            <a:ext cx="731520" cy="320040"/>
          </a:xfrm>
          <a:prstGeom prst="line">
            <a:avLst/>
          </a:prstGeom>
          <a:ln w="38100">
            <a:solidFill>
              <a:srgbClr val="1f6f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Shape 26"/>
          <p:cNvSpPr/>
          <p:nvPr/>
        </p:nvSpPr>
        <p:spPr>
          <a:xfrm flipV="1">
            <a:off x="3931920" y="2788920"/>
            <a:ext cx="731520" cy="502920"/>
          </a:xfrm>
          <a:prstGeom prst="line">
            <a:avLst/>
          </a:prstGeom>
          <a:ln w="38100">
            <a:solidFill>
              <a:srgbClr val="22b8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Shape 27"/>
          <p:cNvSpPr/>
          <p:nvPr/>
        </p:nvSpPr>
        <p:spPr>
          <a:xfrm flipV="1">
            <a:off x="3931920" y="3246120"/>
            <a:ext cx="731520" cy="1325880"/>
          </a:xfrm>
          <a:prstGeom prst="line">
            <a:avLst/>
          </a:prstGeom>
          <a:ln w="381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Shape 28"/>
          <p:cNvSpPr/>
          <p:nvPr/>
        </p:nvSpPr>
        <p:spPr>
          <a:xfrm flipH="1">
            <a:off x="7498080" y="2697480"/>
            <a:ext cx="731520" cy="91440"/>
          </a:xfrm>
          <a:prstGeom prst="line">
            <a:avLst/>
          </a:prstGeom>
          <a:ln w="38100">
            <a:solidFill>
              <a:srgbClr val="10b98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Data Resources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548640" y="82296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Dataset characteristics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548640" y="1325880"/>
            <a:ext cx="566892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868680" y="1554480"/>
            <a:ext cx="5028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Time-series sensor logs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Sampling rate: 20 Hz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CSV format, stored in GitHub repo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Runs reflect low-traction (snow-like) conditions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6400800" y="82296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Signals (examples)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6400800" y="1325880"/>
            <a:ext cx="5257440" cy="50256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6629400" y="143568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Signal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8458200" y="143568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Description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Shape 12"/>
          <p:cNvSpPr/>
          <p:nvPr/>
        </p:nvSpPr>
        <p:spPr>
          <a:xfrm>
            <a:off x="6400800" y="1828800"/>
            <a:ext cx="52574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6629400" y="19386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Consolas"/>
                <a:ea typeface="Consolas"/>
              </a:rPr>
              <a:t>wheel_speed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8458200" y="193860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From encoders (m/s)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400800" y="2331720"/>
            <a:ext cx="5257440" cy="502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629400" y="2441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Consolas"/>
                <a:ea typeface="Consolas"/>
              </a:rPr>
              <a:t>vehicle_speed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8458200" y="244152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Reference linear speed (m/s)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6400800" y="2834640"/>
            <a:ext cx="52574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6629400" y="29444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Consolas"/>
                <a:ea typeface="Consolas"/>
              </a:rPr>
              <a:t>gyro_z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8458200" y="294444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Yaw rate (rad/s)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6400800" y="3337560"/>
            <a:ext cx="5257440" cy="502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6629400" y="34473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Consolas"/>
                <a:ea typeface="Consolas"/>
              </a:rPr>
              <a:t>accel_x/y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8458200" y="344736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Acceleration (m/s²)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Shape 24"/>
          <p:cNvSpPr/>
          <p:nvPr/>
        </p:nvSpPr>
        <p:spPr>
          <a:xfrm>
            <a:off x="6400800" y="3840480"/>
            <a:ext cx="52574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6629400" y="395028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Consolas"/>
                <a:ea typeface="Consolas"/>
              </a:rPr>
              <a:t>temperature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 26"/>
          <p:cNvSpPr/>
          <p:nvPr/>
        </p:nvSpPr>
        <p:spPr>
          <a:xfrm>
            <a:off x="8458200" y="395028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Sensor / ambient (°C)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Key Performance Indicators (KPIs)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48640" y="8229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We evaluate mobility using two primary KPIs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548640" y="1463040"/>
            <a:ext cx="585180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868680" y="169164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Slip Ratio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868680" y="2057400"/>
            <a:ext cx="5211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≈ </a:t>
            </a: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10%</a:t>
            </a:r>
            <a:endParaRPr b="0" lang="fr-FR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868680" y="29718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Target threshold: &lt; 15%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868680" y="352044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Measures wheel slip by comparing encoder-derived wheel speed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against vehicle linear speed. Higher slip indicates traction loss.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6355080" y="1463040"/>
            <a:ext cx="548604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6675120" y="16916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Heading Drift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6675120" y="205740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2.13°</a:t>
            </a:r>
            <a:endParaRPr b="0" lang="fr-FR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6675120" y="29718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Acceptable: &lt; 5°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6675120" y="352044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Estimated by integrating IMU yaw-rate over time. Drift indicates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accumulated directional error in low-friction motion.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Methodology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548640" y="8229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Analysis workflow (Python)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548640" y="1417320"/>
            <a:ext cx="1109412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18837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Shape 7"/>
          <p:cNvSpPr/>
          <p:nvPr/>
        </p:nvSpPr>
        <p:spPr>
          <a:xfrm>
            <a:off x="777240" y="1581840"/>
            <a:ext cx="420120" cy="4201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777240" y="156348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1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1325880" y="1554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Load &amp; inspect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1325880" y="1810440"/>
            <a:ext cx="1008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Read CSV logs; validate timestamps and sensor ranges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548640" y="2258640"/>
            <a:ext cx="1109412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18837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777240" y="2423160"/>
            <a:ext cx="420120" cy="4201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777240" y="240480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2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1325880" y="2395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Compute slip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1325880" y="2651760"/>
            <a:ext cx="1008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Compare wheel speed vs. linear speed → slip ratio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Shape 16"/>
          <p:cNvSpPr/>
          <p:nvPr/>
        </p:nvSpPr>
        <p:spPr>
          <a:xfrm>
            <a:off x="548640" y="3099960"/>
            <a:ext cx="1109412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18837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777240" y="3264480"/>
            <a:ext cx="420120" cy="4201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Text 18"/>
          <p:cNvSpPr/>
          <p:nvPr/>
        </p:nvSpPr>
        <p:spPr>
          <a:xfrm>
            <a:off x="777240" y="324612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3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 19"/>
          <p:cNvSpPr/>
          <p:nvPr/>
        </p:nvSpPr>
        <p:spPr>
          <a:xfrm>
            <a:off x="1325880" y="3237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Estimate heading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1325880" y="3493080"/>
            <a:ext cx="1008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Integrate gyro yaw-rate → heading change over time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Shape 21"/>
          <p:cNvSpPr/>
          <p:nvPr/>
        </p:nvSpPr>
        <p:spPr>
          <a:xfrm>
            <a:off x="548640" y="3940920"/>
            <a:ext cx="1109412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18837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Shape 22"/>
          <p:cNvSpPr/>
          <p:nvPr/>
        </p:nvSpPr>
        <p:spPr>
          <a:xfrm>
            <a:off x="777240" y="4105800"/>
            <a:ext cx="420120" cy="4201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2" name="Text 23"/>
          <p:cNvSpPr/>
          <p:nvPr/>
        </p:nvSpPr>
        <p:spPr>
          <a:xfrm>
            <a:off x="777240" y="408744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4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 24"/>
          <p:cNvSpPr/>
          <p:nvPr/>
        </p:nvSpPr>
        <p:spPr>
          <a:xfrm>
            <a:off x="1325880" y="4078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Evaluate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1325880" y="4334400"/>
            <a:ext cx="1008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Compare KPIs to thresholds; highlight worst-case periods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Shape 26"/>
          <p:cNvSpPr/>
          <p:nvPr/>
        </p:nvSpPr>
        <p:spPr>
          <a:xfrm>
            <a:off x="548640" y="4782240"/>
            <a:ext cx="1109412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18837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hape 27"/>
          <p:cNvSpPr/>
          <p:nvPr/>
        </p:nvSpPr>
        <p:spPr>
          <a:xfrm>
            <a:off x="777240" y="4946760"/>
            <a:ext cx="420120" cy="4201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7" name="Text 28"/>
          <p:cNvSpPr/>
          <p:nvPr/>
        </p:nvSpPr>
        <p:spPr>
          <a:xfrm>
            <a:off x="777240" y="492876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5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 29"/>
          <p:cNvSpPr/>
          <p:nvPr/>
        </p:nvSpPr>
        <p:spPr>
          <a:xfrm>
            <a:off x="1325880" y="49194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Visualize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 30"/>
          <p:cNvSpPr/>
          <p:nvPr/>
        </p:nvSpPr>
        <p:spPr>
          <a:xfrm>
            <a:off x="1325880" y="5175360"/>
            <a:ext cx="1008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Plots for slip, drift, and temperature vs. time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Results (KPI vs Acceptable Limits)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20000" y="6231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Measured values are well within predefined limits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548640" y="1417320"/>
            <a:ext cx="731484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548640" y="900000"/>
            <a:ext cx="731484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% of acceptable limit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914400" y="1417320"/>
            <a:ext cx="6583680" cy="360"/>
          </a:xfrm>
          <a:prstGeom prst="line">
            <a:avLst/>
          </a:prstGeom>
          <a:ln w="12700">
            <a:solidFill>
              <a:srgbClr val="e5e7e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594360" y="1307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100%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914400" y="2525760"/>
            <a:ext cx="6583680" cy="360"/>
          </a:xfrm>
          <a:prstGeom prst="line">
            <a:avLst/>
          </a:prstGeom>
          <a:ln w="12700">
            <a:solidFill>
              <a:srgbClr val="e5e7e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594360" y="241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75%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914400" y="3634560"/>
            <a:ext cx="6583680" cy="360"/>
          </a:xfrm>
          <a:prstGeom prst="line">
            <a:avLst/>
          </a:prstGeom>
          <a:ln w="12700">
            <a:solidFill>
              <a:srgbClr val="e5e7e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594360" y="35251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50%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914400" y="4743360"/>
            <a:ext cx="6583680" cy="360"/>
          </a:xfrm>
          <a:prstGeom prst="line">
            <a:avLst/>
          </a:prstGeom>
          <a:ln w="12700">
            <a:solidFill>
              <a:srgbClr val="e5e7e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594360" y="46335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25%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914400" y="5852160"/>
            <a:ext cx="6583680" cy="360"/>
          </a:xfrm>
          <a:prstGeom prst="line">
            <a:avLst/>
          </a:prstGeom>
          <a:ln w="12700">
            <a:solidFill>
              <a:srgbClr val="e5e7e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594360" y="57423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0%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Shape 18"/>
          <p:cNvSpPr/>
          <p:nvPr/>
        </p:nvSpPr>
        <p:spPr>
          <a:xfrm>
            <a:off x="1828800" y="1600200"/>
            <a:ext cx="146268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Shape 19"/>
          <p:cNvSpPr/>
          <p:nvPr/>
        </p:nvSpPr>
        <p:spPr>
          <a:xfrm>
            <a:off x="1828800" y="3139560"/>
            <a:ext cx="1462680" cy="2712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1828800" y="286524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67%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1645920" y="5897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Slip ratio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Shape 22"/>
          <p:cNvSpPr/>
          <p:nvPr/>
        </p:nvSpPr>
        <p:spPr>
          <a:xfrm>
            <a:off x="4572000" y="1600200"/>
            <a:ext cx="146268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Shape 23"/>
          <p:cNvSpPr/>
          <p:nvPr/>
        </p:nvSpPr>
        <p:spPr>
          <a:xfrm>
            <a:off x="4572000" y="4118760"/>
            <a:ext cx="1462680" cy="17330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4572000" y="384444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43%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4389120" y="5897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Heading drift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Shape 26"/>
          <p:cNvSpPr/>
          <p:nvPr/>
        </p:nvSpPr>
        <p:spPr>
          <a:xfrm>
            <a:off x="5029200" y="1645920"/>
            <a:ext cx="182520" cy="1825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5257800" y="1600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Measured</a:t>
            </a:r>
            <a:endParaRPr b="0" lang="fr-FR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Shape 28"/>
          <p:cNvSpPr/>
          <p:nvPr/>
        </p:nvSpPr>
        <p:spPr>
          <a:xfrm>
            <a:off x="6217920" y="1645920"/>
            <a:ext cx="182520" cy="182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6446520" y="16002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Limit (100%)</a:t>
            </a:r>
            <a:endParaRPr b="0" lang="fr-FR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Shape 30"/>
          <p:cNvSpPr/>
          <p:nvPr/>
        </p:nvSpPr>
        <p:spPr>
          <a:xfrm>
            <a:off x="8280000" y="1440000"/>
            <a:ext cx="338292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Text 31"/>
          <p:cNvSpPr/>
          <p:nvPr/>
        </p:nvSpPr>
        <p:spPr>
          <a:xfrm>
            <a:off x="8595360" y="1783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Avg slip ratio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8595360" y="214884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10%</a:t>
            </a:r>
            <a:endParaRPr b="0" lang="fr-FR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Text 33"/>
          <p:cNvSpPr/>
          <p:nvPr/>
        </p:nvSpPr>
        <p:spPr>
          <a:xfrm>
            <a:off x="8595360" y="2514600"/>
            <a:ext cx="27428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Threshold: 15%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Shape 34"/>
          <p:cNvSpPr/>
          <p:nvPr/>
        </p:nvSpPr>
        <p:spPr>
          <a:xfrm>
            <a:off x="8275320" y="3154680"/>
            <a:ext cx="338292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Text 35"/>
          <p:cNvSpPr/>
          <p:nvPr/>
        </p:nvSpPr>
        <p:spPr>
          <a:xfrm>
            <a:off x="8595360" y="3383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Max heading drift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Text 36"/>
          <p:cNvSpPr/>
          <p:nvPr/>
        </p:nvSpPr>
        <p:spPr>
          <a:xfrm>
            <a:off x="8595360" y="374904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  </a:t>
            </a:r>
            <a:r>
              <a:rPr b="0" lang="en-US" sz="34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2.13°</a:t>
            </a:r>
            <a:endParaRPr b="0" lang="fr-FR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 37"/>
          <p:cNvSpPr/>
          <p:nvPr/>
        </p:nvSpPr>
        <p:spPr>
          <a:xfrm>
            <a:off x="8595360" y="4114800"/>
            <a:ext cx="27428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Limit: 5°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Shape 38"/>
          <p:cNvSpPr/>
          <p:nvPr/>
        </p:nvSpPr>
        <p:spPr>
          <a:xfrm>
            <a:off x="8275320" y="4800600"/>
            <a:ext cx="3382920" cy="10512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a7f3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Text 39"/>
          <p:cNvSpPr/>
          <p:nvPr/>
        </p:nvSpPr>
        <p:spPr>
          <a:xfrm>
            <a:off x="8458200" y="489204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65f46"/>
                </a:solidFill>
                <a:uFillTx/>
                <a:latin typeface="Aptos"/>
                <a:ea typeface="Aptos"/>
              </a:rPr>
              <a:t>Conclusion: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65f46"/>
                </a:solidFill>
                <a:uFillTx/>
                <a:latin typeface="Aptos"/>
                <a:ea typeface="Aptos"/>
              </a:rPr>
              <a:t>Stable traction and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65f46"/>
                </a:solidFill>
                <a:uFillTx/>
                <a:latin typeface="Aptos"/>
                <a:ea typeface="Aptos"/>
              </a:rPr>
              <a:t>low drift in simulated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65f46"/>
                </a:solidFill>
                <a:uFillTx/>
                <a:latin typeface="Aptos"/>
                <a:ea typeface="Aptos"/>
              </a:rPr>
              <a:t>snow conditions.</a:t>
            </a:r>
            <a:endParaRPr b="0" lang="fr-F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Evaluation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548640" y="8229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What the KPIs indicate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548640" y="1371600"/>
            <a:ext cx="589752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868680" y="1600200"/>
            <a:ext cx="52574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Slip ratio below threshold → wheel traction is generally stable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Heading drift far below limit → navigation remains accurate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Combined → vehicle maintains controllability in low friction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6537960" y="1371600"/>
            <a:ext cx="507456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6858000" y="160020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Practical takeaway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6858000" y="2057400"/>
            <a:ext cx="4525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A simple sensor-based monitoring pipeline can flag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traction loss (slip) and navigation degradation (drift)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without needing expensive external positioning.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6858000" y="3429000"/>
            <a:ext cx="4525920" cy="164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6858000" y="3429000"/>
            <a:ext cx="2468520" cy="1641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6858000" y="365760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Example: slip stays below limit</a:t>
            </a:r>
            <a:endParaRPr b="0" lang="fr-FR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Constraints &amp; Limitations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548640" y="8229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What can affect accuracy and real-world performance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Shape 6"/>
          <p:cNvSpPr/>
          <p:nvPr/>
        </p:nvSpPr>
        <p:spPr>
          <a:xfrm>
            <a:off x="548640" y="1417320"/>
            <a:ext cx="5897520" cy="443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868680" y="1645920"/>
            <a:ext cx="52574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Cold temperatures: reduced battery output and motor torque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Sensor noise and bias: IMU drift can accumulate over time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Surface friction varies (ice vs packed snow vs powder)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3040" indent="-2030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Simulation-based analysis: does not capture wind, wear, misalignment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Shape 8"/>
          <p:cNvSpPr/>
          <p:nvPr/>
        </p:nvSpPr>
        <p:spPr>
          <a:xfrm>
            <a:off x="6537960" y="1417320"/>
            <a:ext cx="5074560" cy="44344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6858000" y="16459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7c2d12"/>
                </a:solidFill>
                <a:uFillTx/>
                <a:latin typeface="Aptos Display"/>
                <a:ea typeface="Aptos Display"/>
              </a:rPr>
              <a:t>Mitigation ideas (future)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6858000" y="2103120"/>
            <a:ext cx="45716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• </a:t>
            </a:r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Bias correction / filtering for IMU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• </a:t>
            </a:r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Wheel slip-aware speed estimation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• </a:t>
            </a:r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Adaptive traction control (closed-loop)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• </a:t>
            </a:r>
            <a:r>
              <a:rPr b="0" lang="en-US" sz="1600" strike="noStrike" u="none">
                <a:solidFill>
                  <a:srgbClr val="9a3412"/>
                </a:solidFill>
                <a:uFillTx/>
                <a:latin typeface="Aptos"/>
                <a:ea typeface="Aptos"/>
              </a:rPr>
              <a:t>Field data collection for validation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Cloud Deployment (AWS EC2)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548640" y="82296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Minimum deployment: host a small dashboard to view KPIs remotely</a:t>
            </a:r>
            <a:endParaRPr b="0" lang="fr-FR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548640" y="1325880"/>
            <a:ext cx="5897520" cy="452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868680" y="1554480"/>
            <a:ext cx="525744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Launch a Free Tier EC2 instance (Linux)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Open inbound ports: SSH (22) + Streamlit (8501)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SSH into instance and install Python + requirements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Run: streamlit run dashboard.py --server.address 0.0.0.0 --server.port 8501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Access in browser: http://&lt;EC2-PUBLIC-IP&gt;:8501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6537960" y="1325880"/>
            <a:ext cx="507456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6858000" y="15544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b1f3a"/>
                </a:solidFill>
                <a:uFillTx/>
                <a:latin typeface="Aptos Display"/>
                <a:ea typeface="Aptos Display"/>
              </a:rPr>
              <a:t>Architecture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6858000" y="2103120"/>
            <a:ext cx="4434480" cy="868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6858000" y="2103120"/>
            <a:ext cx="109440" cy="868320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7059240" y="221292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Browser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7059240" y="2514600"/>
            <a:ext cx="416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Student / instructor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6858000" y="3200400"/>
            <a:ext cx="4434480" cy="10512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6858000" y="3200400"/>
            <a:ext cx="109440" cy="1051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7059240" y="331020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AWS EC2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 17"/>
          <p:cNvSpPr/>
          <p:nvPr/>
        </p:nvSpPr>
        <p:spPr>
          <a:xfrm>
            <a:off x="7059240" y="3611880"/>
            <a:ext cx="4160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Streamlit dashboard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(port 8501)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hape 18"/>
          <p:cNvSpPr/>
          <p:nvPr/>
        </p:nvSpPr>
        <p:spPr>
          <a:xfrm>
            <a:off x="6858000" y="4434840"/>
            <a:ext cx="4434480" cy="100548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6858000" y="4434840"/>
            <a:ext cx="109440" cy="1005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7059240" y="454464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CSV data</a:t>
            </a:r>
            <a:endParaRPr b="0" lang="fr-FR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7059240" y="484632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Uploaded logs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(or pulled from GitHub)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hape 22"/>
          <p:cNvSpPr/>
          <p:nvPr/>
        </p:nvSpPr>
        <p:spPr>
          <a:xfrm flipH="1">
            <a:off x="9052560" y="2788920"/>
            <a:ext cx="720" cy="457200"/>
          </a:xfrm>
          <a:prstGeom prst="line">
            <a:avLst/>
          </a:prstGeom>
          <a:ln w="38100">
            <a:solidFill>
              <a:srgbClr val="1f6f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 flipH="1">
            <a:off x="9052560" y="3977640"/>
            <a:ext cx="720" cy="457200"/>
          </a:xfrm>
          <a:prstGeom prst="line">
            <a:avLst/>
          </a:prstGeom>
          <a:ln w="38100">
            <a:solidFill>
              <a:srgbClr val="10b98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48640" y="10980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Conclusion &amp; Future Work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0" y="6492240"/>
            <a:ext cx="12191400" cy="3654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548640" y="6583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Snow-Terrain Mobility Performance Analysis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8351280" y="6583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b5563"/>
                </a:solidFill>
                <a:uFillTx/>
                <a:latin typeface="Aptos"/>
                <a:ea typeface="Aptos"/>
              </a:rPr>
              <a:t>Fall 2025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548640" y="8229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Summary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Shape 6"/>
          <p:cNvSpPr/>
          <p:nvPr/>
        </p:nvSpPr>
        <p:spPr>
          <a:xfrm>
            <a:off x="548640" y="1325880"/>
            <a:ext cx="5897520" cy="233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868680" y="1554480"/>
            <a:ext cx="52574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Sensor-based monitoring effectively quantifies snow mobility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Vehicle met targets for traction (slip) and direction (drift)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KPIs provide a clear way to compare runs and detect issues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6537960" y="822960"/>
            <a:ext cx="5074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11827"/>
                </a:solidFill>
                <a:uFillTx/>
                <a:latin typeface="Aptos Display"/>
                <a:ea typeface="Aptos Display"/>
              </a:rPr>
              <a:t>Next steps</a:t>
            </a:r>
            <a:endParaRPr b="0" lang="fr-FR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6537960" y="1325880"/>
            <a:ext cx="5074560" cy="452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6858000" y="1554480"/>
            <a:ext cx="443448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Collect real-world snow data for validation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Add adaptive traction control (closed-loop)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Improve drift estimation with filtering / bias correction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0440" indent="-190440" defTabSz="914400">
              <a:lnSpc>
                <a:spcPct val="108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111827"/>
                </a:solidFill>
                <a:uFillTx/>
                <a:latin typeface="Aptos"/>
                <a:ea typeface="Aptos"/>
              </a:rPr>
              <a:t>Expand dashboard: run selection, KPI trends, alerts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Shape 11"/>
          <p:cNvSpPr/>
          <p:nvPr/>
        </p:nvSpPr>
        <p:spPr>
          <a:xfrm>
            <a:off x="548640" y="3886200"/>
            <a:ext cx="5897520" cy="196560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548640" y="4251960"/>
            <a:ext cx="5897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Aptos Display"/>
                <a:ea typeface="Aptos Display"/>
              </a:rPr>
              <a:t>Thank you!</a:t>
            </a:r>
            <a:endParaRPr b="0" lang="fr-FR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548640" y="4983480"/>
            <a:ext cx="589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Aptos"/>
                <a:ea typeface="Aptos"/>
              </a:rPr>
              <a:t>For listening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LibreOffice/24.8.0.3$Windows_x86 LibreOffice_project/0bdf1299c94fe897b119f97f3c613e9dca6be583</Application>
  <AppVersion>15.0000</AppVersion>
  <Company>IoT and Applied Data Science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2025-12-23T15:13:04Z</dcterms:created>
  <dc:creator>Course Project Team</dc:creator>
  <dc:description/>
  <dc:language>fr-FR</dc:language>
  <cp:lastModifiedBy/>
  <dcterms:modified xsi:type="dcterms:W3CDTF">2025-12-25T19:33:45Z</dcterms:modified>
  <cp:revision>2</cp:revision>
  <dc:subject>Snow-terrain mobility monitoring using IMU and encoders</dc:subject>
  <dc:title>Snow-Terrain Mobility Performance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